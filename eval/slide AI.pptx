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047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8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80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98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49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70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79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05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16C4C9A-3960-41CF-A4E9-2A8FB932454B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245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10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076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A2B1-C3DE-48BD-A40D-9FCB255B4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3520" y="802298"/>
            <a:ext cx="10139679" cy="254143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TRÍ TUỆ NHÂN TẠO</a:t>
            </a:r>
            <a:br>
              <a:rPr lang="en-US" sz="5400" dirty="0"/>
            </a:b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452267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E556EA-E008-4A29-8EE4-754EF8837232}"/>
              </a:ext>
            </a:extLst>
          </p:cNvPr>
          <p:cNvSpPr txBox="1"/>
          <p:nvPr/>
        </p:nvSpPr>
        <p:spPr>
          <a:xfrm>
            <a:off x="1615440" y="833120"/>
            <a:ext cx="99568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vi-VN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ƠNG 1</a:t>
            </a:r>
          </a:p>
          <a:p>
            <a:pPr algn="ctr"/>
            <a:endParaRPr lang="en-US" sz="4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QUAN VỀ TRÍ TUỆ NHÂN TẠO</a:t>
            </a:r>
            <a:endParaRPr lang="en-US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85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BDD85-8A9F-4635-A759-F254B6007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880" y="457200"/>
            <a:ext cx="11389359" cy="197104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1.1. LỊCH SỬ HÌNH THÀNH VÀ PHÁT TRIỂN CỦA TRÍ TUỆ NHÂN TẠO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AB8953-7BDF-485F-8BE6-BDC527638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1" y="1854804"/>
            <a:ext cx="11744958" cy="3479196"/>
          </a:xfrm>
        </p:spPr>
        <p:txBody>
          <a:bodyPr>
            <a:noAutofit/>
          </a:bodyPr>
          <a:lstStyle/>
          <a:p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tuệ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(AI: artificial intelligence)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minh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móc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trái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ngược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minh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nhiên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tuệ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thường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móc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bắt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chước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800" cap="none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751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391957-2E3C-4011-9219-DFD5CCAABD49}"/>
              </a:ext>
            </a:extLst>
          </p:cNvPr>
          <p:cNvSpPr/>
          <p:nvPr/>
        </p:nvSpPr>
        <p:spPr>
          <a:xfrm>
            <a:off x="274320" y="679718"/>
            <a:ext cx="119176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hệ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thống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nhau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AI: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dựa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dữ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liệu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khứ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báo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quyết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AI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xúc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nhận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nhận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hóa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đặc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điểm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loại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tuệ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nhận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xúc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hội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ý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nhận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544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84D8A5-ED34-4368-94F0-CEEB7D71F0D6}"/>
              </a:ext>
            </a:extLst>
          </p:cNvPr>
          <p:cNvSpPr/>
          <p:nvPr/>
        </p:nvSpPr>
        <p:spPr>
          <a:xfrm>
            <a:off x="121920" y="1442720"/>
            <a:ext cx="120700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nghĩa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giống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endParaRPr lang="en-US" sz="28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nghĩ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giống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endParaRPr lang="en-US" sz="28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luận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endParaRPr lang="en-US" sz="28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logic</a:t>
            </a:r>
          </a:p>
          <a:p>
            <a:pPr indent="457200"/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sz="2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98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FFE1E0-80F8-45EB-A85B-FEC07B8BDFA1}"/>
              </a:ext>
            </a:extLst>
          </p:cNvPr>
          <p:cNvSpPr/>
          <p:nvPr/>
        </p:nvSpPr>
        <p:spPr>
          <a:xfrm>
            <a:off x="193040" y="541724"/>
            <a:ext cx="1199896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Lịch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tuệ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tạo</a:t>
            </a:r>
            <a:endParaRPr lang="en-US" sz="28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Giữa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thập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1960: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Khởi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trào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cứu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rộng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khắp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1974: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đoạn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lần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mùa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vọng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phương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1980: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Hồi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nhờ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thành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sản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phẩm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thương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mại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hệ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chuyên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1987: 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rơi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đoạn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đoạn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lần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2;</a:t>
            </a:r>
          </a:p>
        </p:txBody>
      </p:sp>
    </p:spTree>
    <p:extLst>
      <p:ext uri="{BB962C8B-B14F-4D97-AF65-F5344CB8AC3E}">
        <p14:creationId xmlns:p14="http://schemas.microsoft.com/office/powerpoint/2010/main" val="116696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DFF56F-4CA5-4D2D-87C0-88AFFDE67A7B}"/>
              </a:ext>
            </a:extLst>
          </p:cNvPr>
          <p:cNvSpPr/>
          <p:nvPr/>
        </p:nvSpPr>
        <p:spPr>
          <a:xfrm>
            <a:off x="294640" y="355601"/>
            <a:ext cx="1166368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Cuối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90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thế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kỉ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21: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Thành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cận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bắt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chứng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tỏ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sức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mạnh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chiến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cờ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vây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trở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thành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2015: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ngoặt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loạt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phần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mềm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AI.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Google</a:t>
            </a:r>
          </a:p>
          <a:p>
            <a:pPr indent="457200" algn="just"/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gần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đây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sức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mạnh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cũng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quyết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ngày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càng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uyển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chuyển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hoạt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trở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thành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mảng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lớn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khoa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học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nghệ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8264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5BCCF5-E68B-4443-891A-DA1BBBC367C8}"/>
              </a:ext>
            </a:extLst>
          </p:cNvPr>
          <p:cNvSpPr txBox="1"/>
          <p:nvPr/>
        </p:nvSpPr>
        <p:spPr>
          <a:xfrm>
            <a:off x="1356885" y="545137"/>
            <a:ext cx="112555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1.2. CÁC LĨNH VỰC TRÍ TUỆ NHÂN TẠO NGHIÊN CỨU 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B4759D-FFC8-4272-A5D9-A685FEF64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95738"/>
              </p:ext>
            </p:extLst>
          </p:nvPr>
        </p:nvGraphicFramePr>
        <p:xfrm>
          <a:off x="1103586" y="1685157"/>
          <a:ext cx="10731063" cy="4114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0844">
                  <a:extLst>
                    <a:ext uri="{9D8B030D-6E8A-4147-A177-3AD203B41FA5}">
                      <a16:colId xmlns:a16="http://schemas.microsoft.com/office/drawing/2014/main" val="3511710710"/>
                    </a:ext>
                  </a:extLst>
                </a:gridCol>
                <a:gridCol w="4009886">
                  <a:extLst>
                    <a:ext uri="{9D8B030D-6E8A-4147-A177-3AD203B41FA5}">
                      <a16:colId xmlns:a16="http://schemas.microsoft.com/office/drawing/2014/main" val="3338259755"/>
                    </a:ext>
                  </a:extLst>
                </a:gridCol>
                <a:gridCol w="5350333">
                  <a:extLst>
                    <a:ext uri="{9D8B030D-6E8A-4147-A177-3AD203B41FA5}">
                      <a16:colId xmlns:a16="http://schemas.microsoft.com/office/drawing/2014/main" val="4104783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>
                          <a:effectLst/>
                        </a:rPr>
                        <a:t>Khả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năng</a:t>
                      </a:r>
                      <a:endParaRPr lang="en-US" sz="180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>
                          <a:effectLst/>
                        </a:rPr>
                        <a:t>Nhánh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nghiên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cứu</a:t>
                      </a:r>
                      <a:endParaRPr lang="en-US" sz="180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Mục tiêu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616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Khả năng học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Học máy, Học sâu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>
                          <a:effectLst/>
                        </a:rPr>
                        <a:t>Học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máy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nghiên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cứu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và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phát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triển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các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kỹ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thuật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giúp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cho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máy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tính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có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thể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học</a:t>
                      </a:r>
                      <a:r>
                        <a:rPr lang="en-US" sz="1800" baseline="0" dirty="0">
                          <a:effectLst/>
                        </a:rPr>
                        <a:t> tri </a:t>
                      </a:r>
                      <a:r>
                        <a:rPr lang="en-US" sz="1800" baseline="0" dirty="0" err="1">
                          <a:effectLst/>
                        </a:rPr>
                        <a:t>thức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từ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dữ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liệu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đầu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vào</a:t>
                      </a:r>
                      <a:r>
                        <a:rPr lang="en-US" sz="1800" baseline="0" dirty="0">
                          <a:effectLst/>
                        </a:rPr>
                        <a:t>.</a:t>
                      </a:r>
                      <a:endParaRPr lang="en-US" sz="180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7818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Khả năng biểu diễn tri thức và suy diễn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Các phương pháp biểu diễn tri thức và suy diễn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Nhánh cung cấp cơ sở để máy tính có thể thực hiện việc suy diễn như con người.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5535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>
                          <a:effectLst/>
                        </a:rPr>
                        <a:t>Khả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năng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nghe</a:t>
                      </a:r>
                      <a:r>
                        <a:rPr lang="en-US" sz="1800" baseline="0" dirty="0">
                          <a:effectLst/>
                        </a:rPr>
                        <a:t>, </a:t>
                      </a:r>
                      <a:r>
                        <a:rPr lang="en-US" sz="1800" baseline="0" dirty="0" err="1">
                          <a:effectLst/>
                        </a:rPr>
                        <a:t>nhìn</a:t>
                      </a:r>
                      <a:endParaRPr lang="en-US" sz="180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Thị giác máy tính, Xử lý tiếng nói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Các nhánh này nghiên cứu và phát triển các kỹ thuật để giúp máy tính có thể nghe và nhìn như con người.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0698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Khả năng sử dụng ngôn ngữ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Xử lý ngôn ngữ tự nhiên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Nhánh nghiên cứu này giúp cho máy tính có thể hiểu được ngôn ngữ mà con người đang sử dụng.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52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Khả năng thể hiện cử chỉ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>
                          <a:effectLst/>
                        </a:rPr>
                        <a:t>Robotics</a:t>
                      </a:r>
                      <a:endParaRPr lang="en-US" sz="1800" baseline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aseline="0" dirty="0" err="1">
                          <a:effectLst/>
                        </a:rPr>
                        <a:t>Nhánh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này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giúp</a:t>
                      </a:r>
                      <a:r>
                        <a:rPr lang="en-US" sz="1800" baseline="0" dirty="0">
                          <a:effectLst/>
                        </a:rPr>
                        <a:t> robot </a:t>
                      </a:r>
                      <a:r>
                        <a:rPr lang="en-US" sz="1800" baseline="0" dirty="0" err="1">
                          <a:effectLst/>
                        </a:rPr>
                        <a:t>thể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hiện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các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hành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động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và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cử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chỉ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</a:rPr>
                        <a:t>như</a:t>
                      </a:r>
                      <a:r>
                        <a:rPr lang="en-US" sz="1800" baseline="0" dirty="0">
                          <a:effectLst/>
                        </a:rPr>
                        <a:t> con </a:t>
                      </a:r>
                      <a:r>
                        <a:rPr lang="en-US" sz="1800" baseline="0" dirty="0" err="1">
                          <a:effectLst/>
                        </a:rPr>
                        <a:t>người</a:t>
                      </a:r>
                      <a:r>
                        <a:rPr lang="en-US" sz="1800" baseline="0" dirty="0">
                          <a:effectLst/>
                        </a:rPr>
                        <a:t>.</a:t>
                      </a:r>
                      <a:endParaRPr lang="en-US" sz="1800" baseline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6228104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7BFC72DB-9F94-47EC-BAC1-9977BF6CC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0796" y="1685157"/>
            <a:ext cx="1862390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1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53FFBC-BBDC-41C4-907C-9102C24E4876}"/>
              </a:ext>
            </a:extLst>
          </p:cNvPr>
          <p:cNvSpPr/>
          <p:nvPr/>
        </p:nvSpPr>
        <p:spPr>
          <a:xfrm>
            <a:off x="233680" y="924560"/>
            <a:ext cx="1166368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thành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tựu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nổi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Nhận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Tổng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nay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sản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phẩm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cấp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thậm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Việt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Google search: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cấp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dịch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vụ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bằng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qua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Google search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hỗ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việt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 Ở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mẫu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Google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hiểu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ý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hỏi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tổng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dưới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âm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thanh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đọc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lại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hỏi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49021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371465-F383-47D8-9EE7-F178D9092797}"/>
              </a:ext>
            </a:extLst>
          </p:cNvPr>
          <p:cNvSpPr/>
          <p:nvPr/>
        </p:nvSpPr>
        <p:spPr>
          <a:xfrm>
            <a:off x="548640" y="1066800"/>
            <a:ext cx="107797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Siri: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sản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phẩm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Google Search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Siri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hãng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Apple,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sản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phẩm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đặt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mặc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hệ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iOS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Apple. 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tin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tức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kênh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tin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tức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Anh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hỗ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tổng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đọc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lại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nghe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VOA News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02155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CDCB7-0C51-4DB3-A667-D46CF06336B0}"/>
              </a:ext>
            </a:extLst>
          </p:cNvPr>
          <p:cNvSpPr/>
          <p:nvPr/>
        </p:nvSpPr>
        <p:spPr>
          <a:xfrm>
            <a:off x="294640" y="294640"/>
            <a:ext cx="1145032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lĩnh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vực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</a:p>
          <a:p>
            <a:pPr algn="just"/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Ngoài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chức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kiểm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đúng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đắn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mặt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vựng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cú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lâu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nay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việc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dịch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tức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chuyển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đoạn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sang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dễ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dàng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bởi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ứng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Google Translate,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Gần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đây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ứng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hiểu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cũng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tâm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chatbot.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chatbot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hiểu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ý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đang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chuyện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cũng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phù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đang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Do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nhận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tổng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cập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ở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nay chatbot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ty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ảo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sắm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đàn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24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AE6210-E892-48E9-905B-ACD57AEAE41D}"/>
              </a:ext>
            </a:extLst>
          </p:cNvPr>
          <p:cNvSpPr/>
          <p:nvPr/>
        </p:nvSpPr>
        <p:spPr>
          <a:xfrm>
            <a:off x="508000" y="782320"/>
            <a:ext cx="1101344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ứng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hiểu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cũng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tâm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chatbot.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chatbot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hiểu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ý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đang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chuyện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cũng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phù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đang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Do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nhận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tổng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cập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ở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nay chatbot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ty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ảo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sắm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đàn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87720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2CBD3E-275A-4951-BFCB-15B706E3E017}"/>
              </a:ext>
            </a:extLst>
          </p:cNvPr>
          <p:cNvSpPr/>
          <p:nvPr/>
        </p:nvSpPr>
        <p:spPr>
          <a:xfrm>
            <a:off x="314960" y="762000"/>
            <a:ext cx="1165352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lĩnh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vực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thị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</a:p>
          <a:p>
            <a:pPr indent="457200" algn="just"/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Việc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bị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nhìn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cứu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thập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gần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đây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vậy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2012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đạt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còn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chế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bền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môi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trường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việc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hỗ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Học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sâu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nay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Thị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cao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311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922924-6892-40FB-B7C7-2B241F148A71}"/>
              </a:ext>
            </a:extLst>
          </p:cNvPr>
          <p:cNvSpPr txBox="1"/>
          <p:nvPr/>
        </p:nvSpPr>
        <p:spPr>
          <a:xfrm>
            <a:off x="660400" y="609600"/>
            <a:ext cx="111556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1.3. CÁC VẤN ĐỀ TRÍ TUỆ NHÂN TẠO CHƯA GIẢI QUYẾT ĐƯỢC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2D686-F5C4-4C27-A990-B12CD9E64837}"/>
              </a:ext>
            </a:extLst>
          </p:cNvPr>
          <p:cNvSpPr/>
          <p:nvPr/>
        </p:nvSpPr>
        <p:spPr>
          <a:xfrm>
            <a:off x="396240" y="1720840"/>
            <a:ext cx="1115568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tuệ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chép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thay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thế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vẫn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còn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ngay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tuệ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nữa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đặt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hỏi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đào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sâu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do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hoàn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thành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nhiệm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vụ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việc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giúp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góc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nguồn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dữ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liệu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tin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3944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08BDA3-4133-449B-80AD-7D2BBB0C819C}"/>
              </a:ext>
            </a:extLst>
          </p:cNvPr>
          <p:cNvSpPr/>
          <p:nvPr/>
        </p:nvSpPr>
        <p:spPr>
          <a:xfrm>
            <a:off x="497840" y="680721"/>
            <a:ext cx="11430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mô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dựa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tuệ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gần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vô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tưởng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tượng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lịch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tưởng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tượng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trọng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hội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nghe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xây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dựng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mối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hệ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trọng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nối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thế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xung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quyết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thành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942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981CBD-0697-433A-9DE4-2F306BE6CF4A}"/>
              </a:ext>
            </a:extLst>
          </p:cNvPr>
          <p:cNvSpPr/>
          <p:nvPr/>
        </p:nvSpPr>
        <p:spPr>
          <a:xfrm>
            <a:off x="396240" y="762000"/>
            <a:ext cx="1118616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Ngoài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những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cập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còn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tuệ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nhờ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đoán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gặp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cũng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đặt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hỏi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“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Liệu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đúng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đắn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?”</a:t>
            </a:r>
          </a:p>
          <a:p>
            <a:pPr indent="457200" algn="just"/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indent="457200" algn="just"/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Ngoài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tuệ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chưa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xử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song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chưa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phương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nhau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người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chưa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tự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thích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môi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trường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indent="457200"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914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FE2AE9-CC4B-4CA5-A166-929E19F485DF}"/>
              </a:ext>
            </a:extLst>
          </p:cNvPr>
          <p:cNvSpPr/>
          <p:nvPr/>
        </p:nvSpPr>
        <p:spPr>
          <a:xfrm>
            <a:off x="396240" y="1229361"/>
            <a:ext cx="11531600" cy="2805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CHƯƠNG 2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endParaRPr lang="en-US" sz="4800" b="1" kern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4800" b="1" kern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 </a:t>
            </a:r>
            <a:r>
              <a:rPr lang="en-US" sz="4800" b="1" kern="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QUYẾT VẤN ĐỀ BẰNG TÌM KIẾM</a:t>
            </a:r>
          </a:p>
        </p:txBody>
      </p:sp>
    </p:spTree>
    <p:extLst>
      <p:ext uri="{BB962C8B-B14F-4D97-AF65-F5344CB8AC3E}">
        <p14:creationId xmlns:p14="http://schemas.microsoft.com/office/powerpoint/2010/main" val="1034587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D7A6C6-A10F-4F56-A878-1B1BE47CE651}"/>
              </a:ext>
            </a:extLst>
          </p:cNvPr>
          <p:cNvSpPr/>
          <p:nvPr/>
        </p:nvSpPr>
        <p:spPr>
          <a:xfrm>
            <a:off x="629920" y="670561"/>
            <a:ext cx="10027920" cy="1492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2.1. CÁC CHIẾN LƯỢC TÌM </a:t>
            </a:r>
            <a:r>
              <a:rPr lang="en-US" sz="36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 </a:t>
            </a:r>
            <a:endParaRPr lang="en-US" sz="36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Sitka Small" panose="02000505000000020004" pitchFamily="2" charset="0"/>
                <a:ea typeface="Times New Roman" panose="02020603050405020304" pitchFamily="18" charset="0"/>
              </a:rPr>
              <a:t>2.1.1. </a:t>
            </a:r>
            <a:r>
              <a:rPr lang="en-US" sz="2800" b="1" dirty="0" err="1">
                <a:latin typeface="Sitka Small" panose="02000505000000020004" pitchFamily="2" charset="0"/>
                <a:ea typeface="Times New Roman" panose="02020603050405020304" pitchFamily="18" charset="0"/>
              </a:rPr>
              <a:t>Biểu</a:t>
            </a:r>
            <a:r>
              <a:rPr lang="en-US" sz="2800" b="1" dirty="0">
                <a:latin typeface="Sitka Small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Sitka Small" panose="02000505000000020004" pitchFamily="2" charset="0"/>
                <a:ea typeface="Times New Roman" panose="02020603050405020304" pitchFamily="18" charset="0"/>
              </a:rPr>
              <a:t>diễn</a:t>
            </a:r>
            <a:r>
              <a:rPr lang="en-US" sz="2800" b="1" dirty="0">
                <a:latin typeface="Sitka Small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Sitka Small" panose="02000505000000020004" pitchFamily="2" charset="0"/>
                <a:ea typeface="Times New Roman" panose="02020603050405020304" pitchFamily="18" charset="0"/>
              </a:rPr>
              <a:t>vấn</a:t>
            </a:r>
            <a:r>
              <a:rPr lang="en-US" sz="2800" b="1" dirty="0">
                <a:latin typeface="Sitka Small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Sitka Small" panose="02000505000000020004" pitchFamily="2" charset="0"/>
                <a:ea typeface="Times New Roman" panose="02020603050405020304" pitchFamily="18" charset="0"/>
              </a:rPr>
              <a:t>đề</a:t>
            </a:r>
            <a:r>
              <a:rPr lang="en-US" sz="2800" b="1" dirty="0">
                <a:latin typeface="Sitka Small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Sitka Small" panose="02000505000000020004" pitchFamily="2" charset="0"/>
                <a:ea typeface="Times New Roman" panose="02020603050405020304" pitchFamily="18" charset="0"/>
              </a:rPr>
              <a:t>trong</a:t>
            </a:r>
            <a:r>
              <a:rPr lang="en-US" sz="2800" b="1" dirty="0">
                <a:latin typeface="Sitka Small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Sitka Small" panose="02000505000000020004" pitchFamily="2" charset="0"/>
                <a:ea typeface="Times New Roman" panose="02020603050405020304" pitchFamily="18" charset="0"/>
              </a:rPr>
              <a:t>không</a:t>
            </a:r>
            <a:r>
              <a:rPr lang="en-US" sz="2800" b="1" dirty="0">
                <a:latin typeface="Sitka Small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Sitka Small" panose="02000505000000020004" pitchFamily="2" charset="0"/>
                <a:ea typeface="Times New Roman" panose="02020603050405020304" pitchFamily="18" charset="0"/>
              </a:rPr>
              <a:t>gian</a:t>
            </a:r>
            <a:r>
              <a:rPr lang="en-US" sz="2800" b="1" dirty="0">
                <a:latin typeface="Sitka Small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Sitka Small" panose="02000505000000020004" pitchFamily="2" charset="0"/>
                <a:ea typeface="Times New Roman" panose="02020603050405020304" pitchFamily="18" charset="0"/>
              </a:rPr>
              <a:t>trạng</a:t>
            </a:r>
            <a:r>
              <a:rPr lang="en-US" sz="2800" b="1" dirty="0">
                <a:latin typeface="Sitka Small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Sitka Small" panose="02000505000000020004" pitchFamily="2" charset="0"/>
                <a:ea typeface="Times New Roman" panose="02020603050405020304" pitchFamily="18" charset="0"/>
              </a:rPr>
              <a:t>thái</a:t>
            </a:r>
            <a:endParaRPr lang="en-US" sz="2800" b="1" dirty="0">
              <a:latin typeface="Sitka Small" panose="02000505000000020004" pitchFamily="2" charset="0"/>
              <a:ea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FBAEF6-E338-47C4-B421-B57C4D284131}"/>
              </a:ext>
            </a:extLst>
          </p:cNvPr>
          <p:cNvSpPr/>
          <p:nvPr/>
        </p:nvSpPr>
        <p:spPr>
          <a:xfrm>
            <a:off x="264160" y="2893468"/>
            <a:ext cx="11551920" cy="3244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muốn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quyết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bằng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phải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bao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gồm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đối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tượng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tâm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tục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chẳng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véctơ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cũng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đối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tượng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rời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032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F8350D1-965C-43C1-A665-2F1C2E5B4EF8}"/>
                  </a:ext>
                </a:extLst>
              </p:cNvPr>
              <p:cNvSpPr/>
              <p:nvPr/>
            </p:nvSpPr>
            <p:spPr>
              <a:xfrm>
                <a:off x="406400" y="792480"/>
                <a:ext cx="11612880" cy="52021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7200" algn="just">
                  <a:lnSpc>
                    <a:spcPct val="150000"/>
                  </a:lnSpc>
                </a:pP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Như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vậy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muốn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biểu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diễn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vấn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đề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trong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gian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ta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cần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định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yếu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tố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sau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:</a:t>
                </a:r>
                <a:endParaRPr lang="en-US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342900" marR="0" lvl="0" indent="-342900" algn="just">
                  <a:lnSpc>
                    <a:spcPct val="150000"/>
                  </a:lnSpc>
                  <a:spcBef>
                    <a:spcPts val="500"/>
                  </a:spcBef>
                  <a:spcAft>
                    <a:spcPts val="500"/>
                  </a:spcAft>
                  <a:buFont typeface="Wingdings" panose="05000000000000000000" pitchFamily="2" charset="2"/>
                  <a:buChar char=""/>
                </a:pP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ban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đầu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342900" marR="0" lvl="0" indent="-342900" algn="just">
                  <a:lnSpc>
                    <a:spcPct val="150000"/>
                  </a:lnSpc>
                  <a:spcBef>
                    <a:spcPts val="500"/>
                  </a:spcBef>
                  <a:spcAft>
                    <a:spcPts val="500"/>
                  </a:spcAft>
                  <a:buFont typeface="Wingdings" panose="05000000000000000000" pitchFamily="2" charset="2"/>
                  <a:buChar char=""/>
                </a:pP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hợp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tử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Trong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mỗi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tử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mô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tả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hành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động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hoặc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phép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biến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đổi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thể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đưa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tới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hợp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tất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cả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thể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đạt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tới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từ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ban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đầu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bằng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áp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dụng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dãy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tử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lập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thành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gian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của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vấn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đề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Ta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sẽ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ký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hiệu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gian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ban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đầu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Mỗi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tử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thể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xem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như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ánh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xạ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sym typeface="Symbol" panose="05050102010706020507" pitchFamily="18" charset="2"/>
                      </a:rPr>
                      <m:t>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Nói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chung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ánh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xạ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định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khắp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trên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F8350D1-965C-43C1-A665-2F1C2E5B4E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792480"/>
                <a:ext cx="11612880" cy="5202193"/>
              </a:xfrm>
              <a:prstGeom prst="rect">
                <a:avLst/>
              </a:prstGeom>
              <a:blipFill>
                <a:blip r:embed="rId2"/>
                <a:stretch>
                  <a:fillRect l="-840" r="-787" b="-1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677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329671D-7198-4D55-B39F-254C3D778F0B}"/>
                  </a:ext>
                </a:extLst>
              </p:cNvPr>
              <p:cNvSpPr/>
              <p:nvPr/>
            </p:nvSpPr>
            <p:spPr>
              <a:xfrm>
                <a:off x="873760" y="336957"/>
                <a:ext cx="10444480" cy="27938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marR="0" lvl="0" indent="-342900" algn="just">
                  <a:lnSpc>
                    <a:spcPct val="150000"/>
                  </a:lnSpc>
                  <a:spcBef>
                    <a:spcPts val="500"/>
                  </a:spcBef>
                  <a:spcAft>
                    <a:spcPts val="500"/>
                  </a:spcAft>
                  <a:buFont typeface="Wingdings" panose="05000000000000000000" pitchFamily="2" charset="2"/>
                  <a:buChar char=""/>
                </a:pP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hợp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kết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thúc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(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đích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). T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con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của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gian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Trong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nhiều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vấn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đề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(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chẳng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cờ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)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thể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nhiều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đích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ta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thể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định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trước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được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đích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Do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ta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chỉ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thể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mô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tả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đích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thỏa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mãn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số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điều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kiện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nào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329671D-7198-4D55-B39F-254C3D778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60" y="336957"/>
                <a:ext cx="10444480" cy="2793842"/>
              </a:xfrm>
              <a:prstGeom prst="rect">
                <a:avLst/>
              </a:prstGeom>
              <a:blipFill>
                <a:blip r:embed="rId2"/>
                <a:stretch>
                  <a:fillRect l="-758" r="-875" b="-4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055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34CC16-C329-4A30-9477-4DE5B2F79E9A}"/>
              </a:ext>
            </a:extLst>
          </p:cNvPr>
          <p:cNvSpPr/>
          <p:nvPr/>
        </p:nvSpPr>
        <p:spPr>
          <a:xfrm>
            <a:off x="254000" y="465296"/>
            <a:ext cx="11460480" cy="3244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8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3x3 ô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tám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8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xếp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tám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ô,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còn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lại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ô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trống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chẳng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2.2.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trò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chơi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chuyển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dịch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quân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ở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cạnh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ô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trống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ô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trống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dãy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chuyển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dịch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biến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đổi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ban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trái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thành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phải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04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EE3CF7-75C0-44AF-ABB9-02D21FC9291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040" y="894080"/>
            <a:ext cx="7071359" cy="31156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4740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8FC2B-30A9-492B-9C00-0E453AA3A56C}"/>
              </a:ext>
            </a:extLst>
          </p:cNvPr>
          <p:cNvSpPr/>
          <p:nvPr/>
        </p:nvSpPr>
        <p:spPr>
          <a:xfrm>
            <a:off x="345440" y="477520"/>
            <a:ext cx="11297920" cy="3246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8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Ví</a:t>
            </a:r>
            <a:r>
              <a:rPr lang="en-US" sz="28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</a:t>
            </a:r>
            <a:r>
              <a:rPr lang="en-US" sz="28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Cho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đựng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lỏng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dung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dung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dấu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dung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dùng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đường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ống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ở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thế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chính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rong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bình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lít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Hãy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biểu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diễn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bài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toán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đồ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thị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12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102BBD-17C2-4D5A-8DCD-5F107DA8E47B}"/>
              </a:ext>
            </a:extLst>
          </p:cNvPr>
          <p:cNvSpPr/>
          <p:nvPr/>
        </p:nvSpPr>
        <p:spPr>
          <a:xfrm>
            <a:off x="528320" y="538480"/>
            <a:ext cx="10078720" cy="4536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mô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bằng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cặp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nguyên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(x, y),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 = 0, 1, 2, 3,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biểu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= 0, 1, 2, 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biểu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ban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rỗng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do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cặp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nguyên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(0, 0).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đích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do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sẽ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(2, n),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trị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kỳ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</a:t>
            </a:r>
            <a:endParaRPr lang="en-US" sz="2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88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638D95-9A75-4533-8502-BC407F64CB0D}"/>
              </a:ext>
            </a:extLst>
          </p:cNvPr>
          <p:cNvSpPr/>
          <p:nvPr/>
        </p:nvSpPr>
        <p:spPr>
          <a:xfrm>
            <a:off x="335280" y="1442720"/>
            <a:ext cx="11348720" cy="4536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 &lt;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 (x, y | x &lt; 4) 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(4, y)</a:t>
            </a:r>
          </a:p>
          <a:p>
            <a:pPr indent="457200" algn="just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-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&lt; 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 (x, y | y &lt; 3) 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(x, 3) </a:t>
            </a:r>
          </a:p>
          <a:p>
            <a:pPr indent="457200" algn="just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-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 &gt; 0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rỗng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(x, y | x &gt; 0) 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(0, y)</a:t>
            </a:r>
          </a:p>
          <a:p>
            <a:pPr indent="457200" algn="just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-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&gt; 0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làm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rỗng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(x, y | y &gt; 0) 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(x, 0)</a:t>
            </a:r>
          </a:p>
          <a:p>
            <a:pPr indent="457200" algn="just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-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5: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 + y &gt;=4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&gt; 0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sang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        (x, y | x + y &gt;=4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&gt; 0) 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(4, y – (4 – x))</a:t>
            </a:r>
          </a:p>
        </p:txBody>
      </p:sp>
    </p:spTree>
    <p:extLst>
      <p:ext uri="{BB962C8B-B14F-4D97-AF65-F5344CB8AC3E}">
        <p14:creationId xmlns:p14="http://schemas.microsoft.com/office/powerpoint/2010/main" val="3215916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B0C4AE-6FE1-4299-BD61-D7FB7905CE1A}"/>
              </a:ext>
            </a:extLst>
          </p:cNvPr>
          <p:cNvSpPr/>
          <p:nvPr/>
        </p:nvSpPr>
        <p:spPr>
          <a:xfrm>
            <a:off x="904240" y="1537745"/>
            <a:ext cx="10718800" cy="5832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6: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 + y &gt;=3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 &gt; 0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sang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khi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đầy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        (x, y | x + y &gt;=3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 &gt; 0) 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(x – (3 – y), 3)</a:t>
            </a:r>
          </a:p>
          <a:p>
            <a:pPr indent="457200" algn="just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-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7: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 + y &lt;=4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&gt; 0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sang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                                              (x, y | x + y &lt;=4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&gt; 0) 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(x + y, 0)</a:t>
            </a:r>
          </a:p>
          <a:p>
            <a:pPr indent="457200" algn="just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-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8: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 + y &lt;=3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 &gt; 0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tất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nước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sang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lít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                                               (x, y | x + y &lt;=3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 &gt; 0) 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(0, x + 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44048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76193D-806B-4929-A9FD-926E2E428AF9}"/>
              </a:ext>
            </a:extLst>
          </p:cNvPr>
          <p:cNvSpPr/>
          <p:nvPr/>
        </p:nvSpPr>
        <p:spPr>
          <a:xfrm>
            <a:off x="390525" y="228601"/>
            <a:ext cx="107251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2.1.2. </a:t>
            </a:r>
            <a:r>
              <a:rPr lang="en-US" sz="28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chiến</a:t>
            </a:r>
            <a:r>
              <a:rPr lang="en-US" sz="2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lược</a:t>
            </a:r>
            <a:r>
              <a:rPr lang="en-US" sz="2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endParaRPr lang="en-US" sz="28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sz="28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2.1.2.1. </a:t>
            </a:r>
            <a:r>
              <a:rPr lang="en-US" sz="28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Phân</a:t>
            </a:r>
            <a:r>
              <a:rPr lang="en-US" sz="28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loại</a:t>
            </a:r>
            <a:endParaRPr lang="en-US" sz="28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D3B9CA-0B8C-4D51-A8DB-7E0563DF61E4}"/>
              </a:ext>
            </a:extLst>
          </p:cNvPr>
          <p:cNvSpPr/>
          <p:nvPr/>
        </p:nvSpPr>
        <p:spPr>
          <a:xfrm>
            <a:off x="533400" y="1523999"/>
            <a:ext cx="11239500" cy="1633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phân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thành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02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342900" marR="0" lvl="0" indent="-342900" algn="just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"/>
            </a:pP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mù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(blind searches):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sự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dẫn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chỉ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ban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tới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gặp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đích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mù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rộng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sâu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38510-D3A9-4D8D-911F-FC70F9A09898}"/>
              </a:ext>
            </a:extLst>
          </p:cNvPr>
          <p:cNvSpPr/>
          <p:nvPr/>
        </p:nvSpPr>
        <p:spPr>
          <a:xfrm>
            <a:off x="638175" y="3666642"/>
            <a:ext cx="109156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"/>
            </a:pP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kinh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nghiệm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(heuristic):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dựa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vào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hiểu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biết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dựa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vào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kinh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nghiệm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trực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giác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868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F32D41-7194-4BCE-B036-CB540163CF4B}"/>
              </a:ext>
            </a:extLst>
          </p:cNvPr>
          <p:cNvSpPr/>
          <p:nvPr/>
        </p:nvSpPr>
        <p:spPr>
          <a:xfrm>
            <a:off x="481012" y="609600"/>
            <a:ext cx="1122997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2.1.3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chiến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lược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mù</a:t>
            </a:r>
            <a:endParaRPr lang="en-US" sz="24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sz="24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2.1.3.1. </a:t>
            </a:r>
            <a:r>
              <a:rPr lang="en-US" sz="24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chiều</a:t>
            </a:r>
            <a:r>
              <a:rPr lang="en-US" sz="24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sâu</a:t>
            </a:r>
            <a:r>
              <a:rPr lang="en-US" sz="24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(Depth First Search - DFS)</a:t>
            </a:r>
          </a:p>
          <a:p>
            <a:pPr algn="just"/>
            <a:endParaRPr lang="en-US" sz="24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7200" algn="just"/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Depth First Search (DFS –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chiều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sâu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dạng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duyệt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thị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lý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thuyết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khoa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học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máy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tính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DFS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nằm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chiến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lược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mù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chú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ý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tin,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trị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duyệt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ứng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duyệt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thị</a:t>
            </a:r>
            <a:r>
              <a:rPr lang="en-US" sz="2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2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536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0294AD-0041-47AD-B962-B0BB8FE6E785}"/>
              </a:ext>
            </a:extLst>
          </p:cNvPr>
          <p:cNvSpPr/>
          <p:nvPr/>
        </p:nvSpPr>
        <p:spPr>
          <a:xfrm>
            <a:off x="285750" y="438150"/>
            <a:ext cx="10801350" cy="423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i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Trình</a:t>
            </a:r>
            <a:r>
              <a:rPr lang="en-US" sz="24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bày</a:t>
            </a:r>
            <a:r>
              <a:rPr lang="en-US" sz="24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4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b="1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4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Open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chứa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gốc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chờ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xét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Kiểm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Open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rỗng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Open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rỗng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lấy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khỏi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Open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làm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đang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xét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p.</a:t>
            </a:r>
            <a:endParaRPr lang="en-US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143000" marR="0" lvl="2" indent="-228600"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thúc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Open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rỗng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bước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4.</a:t>
            </a:r>
            <a:endParaRPr lang="en-US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Đưa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vào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Close,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sau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xác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kề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vừa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xét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kề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thuộc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lose,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Open. Quay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luận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ra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đỉnh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đích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cần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549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825A19-CF8F-4EA7-8CBF-DB876EB38CB8}"/>
              </a:ext>
            </a:extLst>
          </p:cNvPr>
          <p:cNvSpPr/>
          <p:nvPr/>
        </p:nvSpPr>
        <p:spPr>
          <a:xfrm>
            <a:off x="781050" y="1143000"/>
            <a:ext cx="1083945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2.1.3.2.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chiều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rộng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(Breadth First Search - BFS)</a:t>
            </a:r>
          </a:p>
          <a:p>
            <a:pPr algn="just"/>
            <a:endParaRPr lang="en-US" sz="2600" b="1" i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n-US" sz="26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7200" algn="just"/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Breadth First Search (BFS -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chiều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rộng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xét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duyệt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thị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chiến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lược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mù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chú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ý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thông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tin,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trị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duyệt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</a:t>
            </a:r>
            <a:endParaRPr lang="en-US" sz="2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426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7525CBA-86CF-4193-AC0A-6CA8918F956E}"/>
                  </a:ext>
                </a:extLst>
              </p:cNvPr>
              <p:cNvSpPr/>
              <p:nvPr/>
            </p:nvSpPr>
            <p:spPr>
              <a:xfrm>
                <a:off x="333375" y="466725"/>
                <a:ext cx="10839450" cy="46474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600" b="1" i="1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Trình</a:t>
                </a:r>
                <a:r>
                  <a:rPr lang="en-US" sz="2600" b="1" i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b="1" i="1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bày</a:t>
                </a:r>
                <a:r>
                  <a:rPr lang="en-US" sz="2600" b="1" i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b="1" i="1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thuật</a:t>
                </a:r>
                <a:r>
                  <a:rPr lang="en-US" sz="2600" b="1" i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b="1" i="1" dirty="0" err="1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giải</a:t>
                </a:r>
                <a:r>
                  <a:rPr lang="en-US" sz="2600" b="1" i="1" dirty="0">
                    <a:solidFill>
                      <a:srgbClr val="0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:</a:t>
                </a:r>
              </a:p>
              <a:p>
                <a:pPr>
                  <a:spcAft>
                    <a:spcPts val="600"/>
                  </a:spcAft>
                </a:pPr>
                <a:endParaRPr lang="en-US" sz="2600" b="1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Bước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1: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Open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chứa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đỉnh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gốc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chờ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được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xét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Bước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2: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Kiểm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tra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Open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rỗng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</a:p>
              <a:p>
                <a:pPr marL="742950" marR="0" lvl="1" indent="-285750">
                  <a:spcBef>
                    <a:spcPts val="0"/>
                  </a:spcBef>
                  <a:spcAft>
                    <a:spcPts val="0"/>
                  </a:spcAft>
                  <a:buSzPts val="1000"/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Nếu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Open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rỗng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lấy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một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đỉnh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ra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khỏi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Open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làm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đỉnh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đang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xét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Nếu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đỉnh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g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cần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tìm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kết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thúc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tìm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kiếm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</a:p>
              <a:p>
                <a:pPr marL="742950" marR="0" lvl="1" indent="-285750">
                  <a:spcBef>
                    <a:spcPts val="0"/>
                  </a:spcBef>
                  <a:spcAft>
                    <a:spcPts val="0"/>
                  </a:spcAft>
                  <a:buSzPts val="1000"/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Nếu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Open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rỗng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tiến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đến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bước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4.</a:t>
                </a: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Bước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3: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Đưa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đỉnh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vào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Close,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sau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đó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xác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định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đỉnh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kề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với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đỉnh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p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vừa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xét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Nếu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đỉnh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kề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thuộc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Close,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đưa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chúng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vào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cuối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tập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Open. Quay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lại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bước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2.</a:t>
                </a:r>
              </a:p>
              <a:p>
                <a:pPr marL="342900" marR="0" lvl="0" indent="-342900">
                  <a:spcBef>
                    <a:spcPts val="0"/>
                  </a:spcBef>
                  <a:spcAft>
                    <a:spcPts val="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Bước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4: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Kết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luận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tìm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ra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đỉnh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đích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cần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600" dirty="0" err="1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tìm</a:t>
                </a:r>
                <a:r>
                  <a:rPr lang="en-US" sz="2600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7525CBA-86CF-4193-AC0A-6CA8918F95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466725"/>
                <a:ext cx="10839450" cy="4647426"/>
              </a:xfrm>
              <a:prstGeom prst="rect">
                <a:avLst/>
              </a:prstGeom>
              <a:blipFill>
                <a:blip r:embed="rId2"/>
                <a:stretch>
                  <a:fillRect l="-1012" t="-1312" b="-2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307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9AEE38-7F3B-4C64-93B1-F1340C62EFCB}"/>
              </a:ext>
            </a:extLst>
          </p:cNvPr>
          <p:cNvSpPr/>
          <p:nvPr/>
        </p:nvSpPr>
        <p:spPr>
          <a:xfrm>
            <a:off x="533400" y="657225"/>
            <a:ext cx="110680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Ví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Cho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dưới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đây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0E318A-58F7-40F7-BC13-59750C218AD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1964690"/>
            <a:ext cx="10182225" cy="29286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4404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5BE74-7328-4B4D-868E-7F775CDEA399}"/>
              </a:ext>
            </a:extLst>
          </p:cNvPr>
          <p:cNvSpPr/>
          <p:nvPr/>
        </p:nvSpPr>
        <p:spPr>
          <a:xfrm>
            <a:off x="228600" y="424332"/>
            <a:ext cx="11401425" cy="5147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Giả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trạng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thái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đích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bài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toán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Hãy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giải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thuật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kiếm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chiều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rộng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chiều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sâu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giải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bài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toán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Gọi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tabLst>
                <a:tab pos="2286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Danh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sách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open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chứa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đỉnh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đang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chờ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duyệt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qua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tabLst>
                <a:tab pos="2286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Danh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sách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closed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chứa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đỉnh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đã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duyệt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qua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tabLst>
                <a:tab pos="-3429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rộng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đích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đồ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2.13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vòng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lặp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-342900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[A]; closed = [ 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-342900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[B, C, D]; closed = [A]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-342900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[C, D, E, F]; closed = [B,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-342900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[D, E, F, G, H]; closed = [C, 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-342900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[E, F, G, H, I, J]; closed = [D, C, 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-342900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[F, G, H, I, J, K, L]; closed = [E, D, C, 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-342900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[G, H, I, J, K, L, M] (L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sẵn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open);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  <a:tabLst>
                <a:tab pos="-3429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closed = [F, E, D, C, 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-342900" algn="l"/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[H, I, J, K, L, M, N]; closed = [G, F, E, D, C, 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-342900" algn="l"/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thấy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open = [ ]</a:t>
            </a:r>
          </a:p>
        </p:txBody>
      </p:sp>
    </p:spTree>
    <p:extLst>
      <p:ext uri="{BB962C8B-B14F-4D97-AF65-F5344CB8AC3E}">
        <p14:creationId xmlns:p14="http://schemas.microsoft.com/office/powerpoint/2010/main" val="40154232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AD6DDE-E64B-43EB-86A9-F6E6FFB35D0B}"/>
              </a:ext>
            </a:extLst>
          </p:cNvPr>
          <p:cNvSpPr/>
          <p:nvPr/>
        </p:nvSpPr>
        <p:spPr>
          <a:xfrm>
            <a:off x="371475" y="466725"/>
            <a:ext cx="11610975" cy="5086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Hãy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giải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kiếm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chiều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sâu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kiếm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trạng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thái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đích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đồ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thị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quả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vòng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lặp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pos="-3429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1-  open = [A]; closed = [ 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tabLst>
                <a:tab pos="-342900" algn="l"/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[B, C, D]; closed = [A]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tabLst>
                <a:tab pos="-342900" algn="l"/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[E, F, C, D]; closed = [B,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tabLst>
                <a:tab pos="-342900" algn="l"/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[K, L, F, C, D]; closed = [E, 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tabLst>
                <a:tab pos="-342900" algn="l"/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[S, L, F, C, D]; closed = [K, E, 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tabLst>
                <a:tab pos="-342900" algn="l"/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[L, F, C, D]; closed = [S, K, E, 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tabLst>
                <a:tab pos="-342900" algn="l"/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[T, F, C, D]; closed = [L, S, K, E, 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tabLst>
                <a:tab pos="-342900" algn="l"/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[F, C, D]; closed = [T, L, S, K, E, B, A]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tabLst>
                <a:tab pos="-342900" algn="l"/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[M, C, D]; closed = [F, T, L, S, K, E, B, A]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tabLst>
                <a:tab pos="-342900" algn="l"/>
                <a:tab pos="3429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open = [C, D]; closed = [M, F, T, L, S, K, E, B, A]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tiếp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tục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thấy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open = [ ]</a:t>
            </a:r>
          </a:p>
        </p:txBody>
      </p:sp>
    </p:spTree>
    <p:extLst>
      <p:ext uri="{BB962C8B-B14F-4D97-AF65-F5344CB8AC3E}">
        <p14:creationId xmlns:p14="http://schemas.microsoft.com/office/powerpoint/2010/main" val="595617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8B64679-507E-4052-B049-F8B7FEBB5A1A}"/>
                  </a:ext>
                </a:extLst>
              </p:cNvPr>
              <p:cNvSpPr/>
              <p:nvPr/>
            </p:nvSpPr>
            <p:spPr>
              <a:xfrm>
                <a:off x="228600" y="266700"/>
                <a:ext cx="11563349" cy="51655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500"/>
                  </a:spcBef>
                  <a:spcAft>
                    <a:spcPts val="500"/>
                  </a:spcAft>
                  <a:tabLst>
                    <a:tab pos="342900" algn="l"/>
                  </a:tabLst>
                </a:pPr>
                <a:r>
                  <a:rPr lang="en-US" sz="2400" i="1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Ví</a:t>
                </a:r>
                <a:r>
                  <a:rPr lang="en-US" sz="2400" i="1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i="1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dụ</a:t>
                </a:r>
                <a:r>
                  <a:rPr lang="en-US" sz="2400" i="1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: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Bài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đong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nước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Cho 2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bình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dung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tích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lần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lượt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m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n (lit).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Với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nguồn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nước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chế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dùng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2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bình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trên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để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đong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lit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nước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mất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tính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tổng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quát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thể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giả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thiết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&lt;=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𝑚𝑖𝑛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just">
                  <a:spcBef>
                    <a:spcPts val="500"/>
                  </a:spcBef>
                  <a:spcAft>
                    <a:spcPts val="500"/>
                  </a:spcAft>
                  <a:tabLst>
                    <a:tab pos="342900" algn="l"/>
                  </a:tabLst>
                </a:pP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mỗi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thời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điểm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định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lượng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nước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hiện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trong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mỗi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bình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phản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ánh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bản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chất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hình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của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bài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ở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thời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điểm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just">
                  <a:spcBef>
                    <a:spcPts val="500"/>
                  </a:spcBef>
                  <a:spcAft>
                    <a:spcPts val="500"/>
                  </a:spcAft>
                  <a:tabLst>
                    <a:tab pos="342900" algn="l"/>
                  </a:tabLst>
                </a:pP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-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Gọi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x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lượng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nước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hiện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trong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bình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dung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tích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m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y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lượng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nước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hiện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trong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bình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dung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tích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n.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Như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vậy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bộ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thứ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tự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thể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xem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của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bài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Với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mô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tả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như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vậy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đặc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biệt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của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bài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sẽ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:</a:t>
                </a:r>
                <a:endParaRPr lang="en-US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just">
                  <a:spcBef>
                    <a:spcPts val="500"/>
                  </a:spcBef>
                  <a:spcAft>
                    <a:spcPts val="500"/>
                  </a:spcAft>
                  <a:tabLst>
                    <a:tab pos="342900" algn="l"/>
                  </a:tabLst>
                </a:pP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đầu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: (0,0)		</a:t>
                </a:r>
                <a:endParaRPr lang="en-US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just">
                  <a:spcBef>
                    <a:spcPts val="500"/>
                  </a:spcBef>
                  <a:spcAft>
                    <a:spcPts val="500"/>
                  </a:spcAft>
                  <a:tabLst>
                    <a:tab pos="342900" algn="l"/>
                  </a:tabLst>
                </a:pP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cuối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hoặc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(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k,y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),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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 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</m:oMath>
                </a14:m>
                <a:endParaRPr lang="en-US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 algn="just">
                  <a:spcBef>
                    <a:spcPts val="500"/>
                  </a:spcBef>
                  <a:spcAft>
                    <a:spcPts val="500"/>
                  </a:spcAft>
                  <a:tabLst>
                    <a:tab pos="342900" algn="l"/>
                  </a:tabLst>
                </a:pP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Bài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đong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nước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với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5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4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=3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Giải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bài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theo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phương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pháp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tìm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kiếm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theo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chiều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rộng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8B64679-507E-4052-B049-F8B7FEBB5A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66700"/>
                <a:ext cx="11563349" cy="5165517"/>
              </a:xfrm>
              <a:prstGeom prst="rect">
                <a:avLst/>
              </a:prstGeom>
              <a:blipFill>
                <a:blip r:embed="rId2"/>
                <a:stretch>
                  <a:fillRect l="-844" t="-826" r="-844" b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4979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C9EFA2-2EA7-4E10-87A2-AB3C58808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573318"/>
              </p:ext>
            </p:extLst>
          </p:nvPr>
        </p:nvGraphicFramePr>
        <p:xfrm>
          <a:off x="219075" y="352425"/>
          <a:ext cx="11763375" cy="53625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4741">
                  <a:extLst>
                    <a:ext uri="{9D8B030D-6E8A-4147-A177-3AD203B41FA5}">
                      <a16:colId xmlns:a16="http://schemas.microsoft.com/office/drawing/2014/main" val="2937792553"/>
                    </a:ext>
                  </a:extLst>
                </a:gridCol>
                <a:gridCol w="3232142">
                  <a:extLst>
                    <a:ext uri="{9D8B030D-6E8A-4147-A177-3AD203B41FA5}">
                      <a16:colId xmlns:a16="http://schemas.microsoft.com/office/drawing/2014/main" val="3173079323"/>
                    </a:ext>
                  </a:extLst>
                </a:gridCol>
                <a:gridCol w="2512762">
                  <a:extLst>
                    <a:ext uri="{9D8B030D-6E8A-4147-A177-3AD203B41FA5}">
                      <a16:colId xmlns:a16="http://schemas.microsoft.com/office/drawing/2014/main" val="2927516676"/>
                    </a:ext>
                  </a:extLst>
                </a:gridCol>
                <a:gridCol w="4983730">
                  <a:extLst>
                    <a:ext uri="{9D8B030D-6E8A-4147-A177-3AD203B41FA5}">
                      <a16:colId xmlns:a16="http://schemas.microsoft.com/office/drawing/2014/main" val="2548252477"/>
                    </a:ext>
                  </a:extLst>
                </a:gridCol>
              </a:tblGrid>
              <a:tr h="44688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T(i)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sym typeface="Symbol" panose="05050102010706020507" pitchFamily="18" charset="2"/>
                        </a:rPr>
                        <a:t></a:t>
                      </a:r>
                      <a:r>
                        <a:rPr lang="en-US" sz="1000">
                          <a:effectLst/>
                        </a:rPr>
                        <a:t>MO </a:t>
                      </a:r>
                      <a:r>
                        <a:rPr lang="en-US" sz="1000">
                          <a:effectLst/>
                          <a:sym typeface="Symbol" panose="05050102010706020507" pitchFamily="18" charset="2"/>
                        </a:rPr>
                        <a:t>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DONG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0640609"/>
                  </a:ext>
                </a:extLst>
              </a:tr>
              <a:tr h="44688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9490464"/>
                  </a:ext>
                </a:extLst>
              </a:tr>
              <a:tr h="4468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(5;0) (0;4)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(5;0) (0;4)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0249347"/>
                  </a:ext>
                </a:extLst>
              </a:tr>
              <a:tr h="4468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(5;4) (0;0) (1;4)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(0;4) (5;4) (1;4)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(0;0) (5;0)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55336"/>
                  </a:ext>
                </a:extLst>
              </a:tr>
              <a:tr h="4468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(5;4) (0;0) (4;0)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(5;4) (1;4) (4;0)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(0;0) (5;0) (0;4)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2419067"/>
                  </a:ext>
                </a:extLst>
              </a:tr>
              <a:tr h="4468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(0;4) (5;0)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(1;4) (4;0)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(0;0) (5;0) (0;4) (5;4)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6725204"/>
                  </a:ext>
                </a:extLst>
              </a:tr>
              <a:tr h="4468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(1;4)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(5;4) (0;4) (1;0) (5;0)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(4;0) (1;0)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(0;0) (5;0) (0;4) (5;4) (1;4)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1545402"/>
                  </a:ext>
                </a:extLst>
              </a:tr>
              <a:tr h="4468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(4;0)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(5;0) (4;4) (0;0) (0;4)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(1;0) (4;4)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(0;0) (5;0) (0;4) (5;4) (1;4) (4;0)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3538818"/>
                  </a:ext>
                </a:extLst>
              </a:tr>
              <a:tr h="4468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(1;0)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(5;0) (1;4) (0;1)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(4;4) (0;1)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(0;0) (5;0) (0;4) (5;4) (1;4) (4;0) (1;0)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5876873"/>
                  </a:ext>
                </a:extLst>
              </a:tr>
              <a:tr h="4468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(4;4)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(5;4) (0;4) (4;0) (5;3)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(0;1) (5;3)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(0;0) (5;0) (0;4) (5;4) (1;4) (4;0) (1;0) (4;4)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3118477"/>
                  </a:ext>
                </a:extLst>
              </a:tr>
              <a:tr h="4468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(5;1) (0;4) (0;0) (1;0)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(5;3) (5;1)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(0;0) (5;0) (0;4) (5;4) (1;4) (4;0) (1;0) (0;1)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6299804"/>
                  </a:ext>
                </a:extLst>
              </a:tr>
              <a:tr h="4468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(5;3)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5731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084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37E223-02D4-40AE-A723-F5F1BE7293E7}"/>
              </a:ext>
            </a:extLst>
          </p:cNvPr>
          <p:cNvSpPr/>
          <p:nvPr/>
        </p:nvSpPr>
        <p:spPr>
          <a:xfrm>
            <a:off x="600075" y="276225"/>
            <a:ext cx="10182225" cy="1420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2.1.4.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con.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thị</a:t>
            </a:r>
            <a:r>
              <a:rPr lang="en-US" sz="2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VÀ/HOẶC</a:t>
            </a:r>
            <a:endParaRPr lang="en-US" sz="2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2.1.4.1.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Phân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rã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endParaRPr lang="en-US" sz="2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5AAD9-2C44-4B30-864D-27D949457A3B}"/>
              </a:ext>
            </a:extLst>
          </p:cNvPr>
          <p:cNvSpPr/>
          <p:nvPr/>
        </p:nvSpPr>
        <p:spPr>
          <a:xfrm>
            <a:off x="400051" y="2314576"/>
            <a:ext cx="11687174" cy="334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(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còn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gọi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rút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gọn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phương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pháp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rộng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quyết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đời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ngày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cũng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khoa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học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mỗi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gặp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quyết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ta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vẫn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thường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cố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gắng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đưa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trình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rút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gọn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sẽ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tiếp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tục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tới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dẫn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tới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quyết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dễ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dàng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000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59260D-3B37-4A28-A632-8F268D82A78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49" y="1636712"/>
            <a:ext cx="9953625" cy="3192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2050597-30D2-4297-AF22-9C2624886A49}"/>
              </a:ext>
            </a:extLst>
          </p:cNvPr>
          <p:cNvSpPr/>
          <p:nvPr/>
        </p:nvSpPr>
        <p:spPr>
          <a:xfrm>
            <a:off x="1828800" y="314325"/>
            <a:ext cx="54255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5178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BEFF6D-75E1-4060-8EA7-F2F538BB037E}"/>
              </a:ext>
            </a:extLst>
          </p:cNvPr>
          <p:cNvSpPr/>
          <p:nvPr/>
        </p:nvSpPr>
        <p:spPr>
          <a:xfrm>
            <a:off x="609601" y="285751"/>
            <a:ext cx="11029950" cy="6117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vậy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indent="457200"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1)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 qua E (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indent="457200"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2)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 qua G.</a:t>
            </a:r>
          </a:p>
          <a:p>
            <a:pPr indent="457200" algn="just"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Mỗi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phân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nhỏ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sau</a:t>
            </a:r>
            <a:endParaRPr lang="en-US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1)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 qua E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indent="457200"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1.1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 (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indent="457200"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1.2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B.</a:t>
            </a:r>
          </a:p>
          <a:p>
            <a:pPr indent="457200"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2)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 qua G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indent="457200"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2.1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 (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indent="457200"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2.2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B.</a:t>
            </a:r>
          </a:p>
          <a:p>
            <a:pPr indent="457200" algn="just">
              <a:lnSpc>
                <a:spcPct val="150000"/>
              </a:lnSpc>
            </a:pP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613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5A2C62-83A7-4AA1-8FE5-B68BD992FB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61975"/>
            <a:ext cx="9677400" cy="4562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12514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B88894-5461-4AA5-BA03-F48B9EAF0662}"/>
              </a:ext>
            </a:extLst>
          </p:cNvPr>
          <p:cNvSpPr/>
          <p:nvPr/>
        </p:nvSpPr>
        <p:spPr>
          <a:xfrm>
            <a:off x="447675" y="285750"/>
            <a:ext cx="681467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2.1.4.2.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thị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endParaRPr lang="en-US" sz="2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4706B0-B0B8-46A5-9A52-B7536FCF191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076325"/>
            <a:ext cx="6667499" cy="3819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0608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5DABE7-7F1A-429D-8F2B-0B185F72FBE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6" y="295275"/>
            <a:ext cx="9782174" cy="4657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47537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641990-759F-43C5-B2B8-98C7344A110D}"/>
              </a:ext>
            </a:extLst>
          </p:cNvPr>
          <p:cNvSpPr/>
          <p:nvPr/>
        </p:nvSpPr>
        <p:spPr>
          <a:xfrm>
            <a:off x="190500" y="209550"/>
            <a:ext cx="774831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2.1.4.3.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thị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6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en-US" sz="26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endParaRPr lang="en-US" sz="2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DA9936-F016-46D0-8222-0F79B56820F5}"/>
              </a:ext>
            </a:extLst>
          </p:cNvPr>
          <p:cNvSpPr/>
          <p:nvPr/>
        </p:nvSpPr>
        <p:spPr>
          <a:xfrm>
            <a:off x="0" y="1166843"/>
            <a:ext cx="11734800" cy="483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ts val="3100"/>
              </a:lnSpc>
            </a:pP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sẽ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sâu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thị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dấu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sẽ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dấu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nghĩa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đệ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Xuất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ứng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bài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ban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xuống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sâu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gặp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thúc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dấu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gặp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thúc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tiếp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dấu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tới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 ta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lần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lượt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xuống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v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tử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dấu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v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tiếp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xuống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v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còn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Tiếp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tục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xuống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tử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tử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dấu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sẽ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dấu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quay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cha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Còn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xuống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mọi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tử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gặp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dấu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dấu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quay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cha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u.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2057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8632EA-519E-4014-AC8E-22B862A57A00}"/>
              </a:ext>
            </a:extLst>
          </p:cNvPr>
          <p:cNvSpPr/>
          <p:nvPr/>
        </p:nvSpPr>
        <p:spPr>
          <a:xfrm>
            <a:off x="361950" y="352425"/>
            <a:ext cx="8782050" cy="895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2.2.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chiến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lược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kinh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nghiệm</a:t>
            </a:r>
            <a:endParaRPr lang="en-US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2.2.1.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kinh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nghiệm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ADF6CF-A503-480C-93D6-E31AD9F70D6C}"/>
              </a:ext>
            </a:extLst>
          </p:cNvPr>
          <p:cNvSpPr/>
          <p:nvPr/>
        </p:nvSpPr>
        <p:spPr>
          <a:xfrm>
            <a:off x="523875" y="1847850"/>
            <a:ext cx="1053465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sử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dẫn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sự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gọi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chung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kỹ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thuật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kinh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nghiệm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(heuristic search).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giai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đoạn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cơ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giải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quyết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bằng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kinh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nghiệm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sau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biểu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thích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hợp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mô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tả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toán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tử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vấn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Xây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dựng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Thiết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chiến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lược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chọn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ở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mỗi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bước</a:t>
            </a:r>
            <a:r>
              <a:rPr lang="en-US" sz="2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   </a:t>
            </a:r>
            <a:endParaRPr lang="en-US" sz="2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5040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ECA0D-322E-4901-8F55-2FDA6B0D68B1}"/>
              </a:ext>
            </a:extLst>
          </p:cNvPr>
          <p:cNvSpPr/>
          <p:nvPr/>
        </p:nvSpPr>
        <p:spPr>
          <a:xfrm>
            <a:off x="238125" y="276225"/>
            <a:ext cx="11258550" cy="2870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endParaRPr lang="en-US" sz="24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nghiệm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vai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trò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cực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trọng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Chúng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xây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dựng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sự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đúng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mới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quả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chính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dẫn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chệch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do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kém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quả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2249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E3CE03E-6657-49A8-8502-40BFDF45C4BE}"/>
                  </a:ext>
                </a:extLst>
              </p:cNvPr>
              <p:cNvSpPr/>
              <p:nvPr/>
            </p:nvSpPr>
            <p:spPr>
              <a:xfrm>
                <a:off x="0" y="323850"/>
                <a:ext cx="11563350" cy="2239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marR="0" lvl="0" indent="-34290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"/>
                </a:pP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Bài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toán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8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số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Chúng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ta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thể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đưa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ra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hai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xây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dựng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hàm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đánh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giá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en-US" sz="240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Hàm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h1: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Với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mỗi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thì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số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quân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nằm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đúng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vị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trí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của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nó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trong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đích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Chẳng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hạn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đích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ở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bên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phải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hình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u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trạng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ở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bên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trái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hình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thì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vì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các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quân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không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đúng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vị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trí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là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3, 8, 6 </a:t>
                </a:r>
                <a:r>
                  <a:rPr lang="en-US" sz="2400" dirty="0" err="1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và</a:t>
                </a:r>
                <a:r>
                  <a:rPr lang="en-US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1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E3CE03E-6657-49A8-8502-40BFDF45C4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3850"/>
                <a:ext cx="11563350" cy="2239844"/>
              </a:xfrm>
              <a:prstGeom prst="rect">
                <a:avLst/>
              </a:prstGeom>
              <a:blipFill>
                <a:blip r:embed="rId2"/>
                <a:stretch>
                  <a:fillRect l="-791" r="-949" b="-5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BB35202-077F-4001-AC8C-F60299471CE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1" y="2781301"/>
            <a:ext cx="8353424" cy="3009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72998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E805AD-CA7D-4AF7-B46F-98CA5D2F9E76}"/>
              </a:ext>
            </a:extLst>
          </p:cNvPr>
          <p:cNvSpPr/>
          <p:nvPr/>
        </p:nvSpPr>
        <p:spPr>
          <a:xfrm>
            <a:off x="676275" y="1123950"/>
            <a:ext cx="11077575" cy="279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nghiệm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quan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trọng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(best-first search)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(hill-climbing search).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chiến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indent="457200" algn="just"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=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rộng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+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endParaRPr lang="en-US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=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độ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sâu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+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7597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A94712-49A4-4744-AEAC-3F53050F9BBC}"/>
              </a:ext>
            </a:extLst>
          </p:cNvPr>
          <p:cNvSpPr/>
          <p:nvPr/>
        </p:nvSpPr>
        <p:spPr>
          <a:xfrm>
            <a:off x="171451" y="495300"/>
            <a:ext cx="75042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2.2.2.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tiên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1C91F9-BF2A-45F1-85BE-19E2D376443F}"/>
              </a:ext>
            </a:extLst>
          </p:cNvPr>
          <p:cNvSpPr/>
          <p:nvPr/>
        </p:nvSpPr>
        <p:spPr>
          <a:xfrm>
            <a:off x="400049" y="1390650"/>
            <a:ext cx="11210925" cy="390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(best-first search)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rộng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dẫn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bởi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với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rộng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ở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chỗ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rộng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lần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lượt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cả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ở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mức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ở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mức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tiếp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còn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chọn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bởi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tức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trị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nhỏ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ở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mức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hiện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ở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mức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trên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2589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8938FC-9246-483A-8F1F-D9CCAFFC38F6}"/>
              </a:ext>
            </a:extLst>
          </p:cNvPr>
          <p:cNvSpPr/>
          <p:nvPr/>
        </p:nvSpPr>
        <p:spPr>
          <a:xfrm>
            <a:off x="171450" y="333374"/>
            <a:ext cx="11763375" cy="5286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sz="2400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Ví</a:t>
            </a:r>
            <a:r>
              <a:rPr lang="en-US" sz="2400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Xét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biểu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bởi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thị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hình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2.2,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ban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thúc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trị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ghi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mỗi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trình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kề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C, D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trị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nhỏ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chọn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F, I.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chưa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C, E, F, I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trị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nhỏ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chọn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G, K.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số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chưa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B, H.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đây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đã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tới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thúc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tốt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biểu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hình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2.3.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5234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7BB904-515D-4266-A022-B8552E50D06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933451"/>
            <a:ext cx="10601325" cy="44281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31022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AFDCEF-61A3-4FD2-B852-1B4A1B6CBF0E}"/>
              </a:ext>
            </a:extLst>
          </p:cNvPr>
          <p:cNvSpPr/>
          <p:nvPr/>
        </p:nvSpPr>
        <p:spPr>
          <a:xfrm>
            <a:off x="352426" y="285750"/>
            <a:ext cx="69527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00"/>
              </a:spcBef>
              <a:spcAft>
                <a:spcPts val="500"/>
              </a:spcAft>
              <a:tabLst>
                <a:tab pos="342900" algn="l"/>
              </a:tabLst>
            </a:pP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2.2.3.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leo</a:t>
            </a:r>
            <a:r>
              <a:rPr lang="en-U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đồi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C5105-FE39-49C9-9E0F-27B7E1F6CDC2}"/>
              </a:ext>
            </a:extLst>
          </p:cNvPr>
          <p:cNvSpPr/>
          <p:nvPr/>
        </p:nvSpPr>
        <p:spPr>
          <a:xfrm>
            <a:off x="609600" y="1838325"/>
            <a:ext cx="10363200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kiếm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leo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đồi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(hill-climbing search)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kiếm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sâu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hướng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dẫn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bởi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đánh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Song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kiếm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sâu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triển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đỉnh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thì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bước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tiếp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ta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đỉnh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con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đỉnh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nhiều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hứa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hẹn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triển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đỉnh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này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bởi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đánh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0661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61DFC4-1BCB-4862-A7BA-15A9E41460DA}"/>
              </a:ext>
            </a:extLst>
          </p:cNvPr>
          <p:cNvSpPr/>
          <p:nvPr/>
        </p:nvSpPr>
        <p:spPr>
          <a:xfrm>
            <a:off x="552451" y="1438274"/>
            <a:ext cx="11229974" cy="2239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trình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tiến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hành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Đầu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tiên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C, D, E.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chọn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nó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ra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đỉnh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 B, G.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Quá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trình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kết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thúc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Cây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tìm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kiếm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đồi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hình</a:t>
            </a:r>
            <a:r>
              <a:rPr lang="en-US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2.4. 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6599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1FA77F-ABB4-4B1B-A410-103BE444622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600076"/>
            <a:ext cx="9734550" cy="43659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79760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2D36C2-9D4B-970E-DFED-28841C3DAA77}"/>
              </a:ext>
            </a:extLst>
          </p:cNvPr>
          <p:cNvSpPr txBox="1"/>
          <p:nvPr/>
        </p:nvSpPr>
        <p:spPr>
          <a:xfrm>
            <a:off x="394636" y="664144"/>
            <a:ext cx="11559941" cy="1742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en-US" sz="4800" b="1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Chương</a:t>
            </a:r>
            <a:r>
              <a:rPr lang="en-US" sz="4800" b="1" i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3</a:t>
            </a:r>
            <a:endParaRPr lang="en-US" sz="4800" dirty="0"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ctr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sz="4800" b="1" kern="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 THỨC VÀ LẬP LUẬN</a:t>
            </a:r>
          </a:p>
        </p:txBody>
      </p:sp>
    </p:spTree>
    <p:extLst>
      <p:ext uri="{BB962C8B-B14F-4D97-AF65-F5344CB8AC3E}">
        <p14:creationId xmlns:p14="http://schemas.microsoft.com/office/powerpoint/2010/main" val="22543912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A5068A-1494-9CC9-838E-7E9FA6F4541B}"/>
              </a:ext>
            </a:extLst>
          </p:cNvPr>
          <p:cNvSpPr txBox="1"/>
          <p:nvPr/>
        </p:nvSpPr>
        <p:spPr>
          <a:xfrm>
            <a:off x="510139" y="471638"/>
            <a:ext cx="11540690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100"/>
              </a:spcBef>
              <a:spcAft>
                <a:spcPts val="100"/>
              </a:spcAft>
            </a:pP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3.1. LOGIC MỆNH ĐỀ</a:t>
            </a:r>
          </a:p>
          <a:p>
            <a:pPr marL="0" marR="0" algn="just">
              <a:spcBef>
                <a:spcPts val="100"/>
              </a:spcBef>
              <a:spcAft>
                <a:spcPts val="100"/>
              </a:spcAft>
            </a:pP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3.1.1. Tri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biểu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tri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endParaRPr lang="en-US" sz="2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C9CD3-93CF-8099-271F-1DDCEAE33A01}"/>
              </a:ext>
            </a:extLst>
          </p:cNvPr>
          <p:cNvSpPr txBox="1"/>
          <p:nvPr/>
        </p:nvSpPr>
        <p:spPr>
          <a:xfrm>
            <a:off x="510139" y="1451393"/>
            <a:ext cx="1138668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mô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tả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dưới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dạng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câu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biểu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tri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biểu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tri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cũng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như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mọi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hình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khác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gồm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thành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phần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cơ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bản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cú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pháp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nghĩa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Ngoài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hai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thành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phần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cú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pháp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nghĩa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biểu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tri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cung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cấp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cơ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chế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suy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luật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suy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(rule of inference)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cho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phép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ta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suy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nào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đó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endParaRPr lang="en-US" sz="24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Ngôn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biểu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tri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Cú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pháp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nghĩa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+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Cơ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chế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suy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diễn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5948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9544EF-04C0-5539-BCC6-EBA8E36EECF6}"/>
              </a:ext>
            </a:extLst>
          </p:cNvPr>
          <p:cNvSpPr txBox="1"/>
          <p:nvPr/>
        </p:nvSpPr>
        <p:spPr>
          <a:xfrm>
            <a:off x="933650" y="597662"/>
            <a:ext cx="10712917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100"/>
              </a:spcBef>
              <a:spcAft>
                <a:spcPts val="100"/>
              </a:spcAft>
            </a:pP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3.1.2. Cú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pháp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ngữ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nghĩa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của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logic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mệnh</a:t>
            </a:r>
            <a:r>
              <a:rPr lang="en-US" sz="2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endParaRPr lang="en-US" sz="2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just">
              <a:spcBef>
                <a:spcPts val="100"/>
              </a:spcBef>
              <a:spcAft>
                <a:spcPts val="100"/>
              </a:spcAft>
            </a:pPr>
            <a:r>
              <a:rPr lang="en-US" sz="2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3.1.2.1. Cú </a:t>
            </a:r>
            <a:r>
              <a:rPr lang="en-US" sz="2800" b="1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pháp</a:t>
            </a:r>
            <a:endParaRPr lang="en-US" sz="2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759F0-0BA6-F48D-6E6A-DC81C249B0EF}"/>
              </a:ext>
            </a:extLst>
          </p:cNvPr>
          <p:cNvSpPr txBox="1"/>
          <p:nvPr/>
        </p:nvSpPr>
        <p:spPr>
          <a:xfrm>
            <a:off x="375385" y="1703672"/>
            <a:ext cx="11271182" cy="305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100"/>
              </a:spcBef>
              <a:spcAft>
                <a:spcPts val="100"/>
              </a:spcAft>
            </a:pPr>
            <a:r>
              <a:rPr lang="en-US" sz="2400" b="1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quy</a:t>
            </a:r>
            <a:r>
              <a:rPr lang="en-US" sz="24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tắc</a:t>
            </a:r>
            <a:r>
              <a:rPr lang="en-US" sz="24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xây</a:t>
            </a:r>
            <a:r>
              <a:rPr lang="en-US" sz="24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dựng</a:t>
            </a:r>
            <a:r>
              <a:rPr lang="en-US" sz="24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4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4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24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 algn="just">
              <a:buFont typeface="Wingdings" panose="05000000000000000000" pitchFamily="2" charset="2"/>
              <a:buChar char=""/>
            </a:pP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biến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mệnh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đề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just">
              <a:buFont typeface="Wingdings" panose="05000000000000000000" pitchFamily="2" charset="2"/>
              <a:buChar char=""/>
            </a:pP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marL="342900" marR="0" lvl="0" indent="-342900" algn="just">
              <a:buFont typeface="Wingdings" panose="05000000000000000000" pitchFamily="2" charset="2"/>
              <a:buChar char=""/>
            </a:pP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(AÙB)   (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đọc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“A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hội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B”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“A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B”)</a:t>
            </a:r>
          </a:p>
          <a:p>
            <a:pPr marL="342900" marR="0" lvl="0" indent="-342900" algn="just">
              <a:buFont typeface="Wingdings" panose="05000000000000000000" pitchFamily="2" charset="2"/>
              <a:buChar char=""/>
            </a:pP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(AÚB)   (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đọc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“A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tuyển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B”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“A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B”)</a:t>
            </a:r>
          </a:p>
          <a:p>
            <a:pPr marL="342900" marR="0" lvl="0" indent="-342900" algn="just">
              <a:buFont typeface="Wingdings" panose="05000000000000000000" pitchFamily="2" charset="2"/>
              <a:buChar char=""/>
            </a:pP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(</a:t>
            </a:r>
            <a:r>
              <a:rPr lang="en-US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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A)   (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đọc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phủ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định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A”)</a:t>
            </a:r>
          </a:p>
          <a:p>
            <a:pPr marL="342900" marR="0" lvl="0" indent="-342900" algn="just">
              <a:buFont typeface="Wingdings" panose="05000000000000000000" pitchFamily="2" charset="2"/>
              <a:buChar char=""/>
            </a:pP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AịB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(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đọc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“A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kéo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B”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hoặc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nếu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thì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B”)</a:t>
            </a:r>
          </a:p>
          <a:p>
            <a:pPr marL="342900" marR="0" lvl="0" indent="-342900" algn="just">
              <a:buFont typeface="Wingdings" panose="05000000000000000000" pitchFamily="2" charset="2"/>
              <a:buChar char=""/>
            </a:pP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(AÛB) (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đọc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“A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B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kéo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theo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nhau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”)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là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công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thức</a:t>
            </a: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7568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9ADCFA-A50B-A501-59B8-72CD7FA9C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241903"/>
              </p:ext>
            </p:extLst>
          </p:nvPr>
        </p:nvGraphicFramePr>
        <p:xfrm>
          <a:off x="356134" y="490887"/>
          <a:ext cx="12021954" cy="45816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10351">
                  <a:extLst>
                    <a:ext uri="{9D8B030D-6E8A-4147-A177-3AD203B41FA5}">
                      <a16:colId xmlns:a16="http://schemas.microsoft.com/office/drawing/2014/main" val="3412839375"/>
                    </a:ext>
                  </a:extLst>
                </a:gridCol>
                <a:gridCol w="6011603">
                  <a:extLst>
                    <a:ext uri="{9D8B030D-6E8A-4147-A177-3AD203B41FA5}">
                      <a16:colId xmlns:a16="http://schemas.microsoft.com/office/drawing/2014/main" val="560580632"/>
                    </a:ext>
                  </a:extLst>
                </a:gridCol>
              </a:tblGrid>
              <a:tr h="4581626">
                <a:tc>
                  <a:txBody>
                    <a:bodyPr/>
                    <a:lstStyle/>
                    <a:p>
                      <a:pPr marL="0" marR="0" indent="360045" algn="just"/>
                      <a:r>
                        <a:rPr lang="en-US" sz="26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Mệnh</a:t>
                      </a:r>
                      <a:r>
                        <a:rPr lang="en-US" sz="26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đề</a:t>
                      </a:r>
                      <a:r>
                        <a:rPr lang="en-US" sz="26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sz="26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tế</a:t>
                      </a:r>
                      <a:endParaRPr lang="en-US" sz="2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342900" marR="0" lvl="0" indent="-342900" algn="just">
                        <a:buFont typeface="Wingdings" panose="05000000000000000000" pitchFamily="2" charset="2"/>
                        <a:buChar char=""/>
                      </a:pP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“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Nếu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trời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mưa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thì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bầu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trời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mây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”</a:t>
                      </a:r>
                    </a:p>
                    <a:p>
                      <a:pPr marL="342900" marR="0" lvl="0" indent="-342900" algn="just">
                        <a:buFont typeface="Wingdings" panose="05000000000000000000" pitchFamily="2" charset="2"/>
                        <a:buChar char=""/>
                      </a:pP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Trời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đang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mưa</a:t>
                      </a:r>
                      <a:endParaRPr lang="en-US" sz="2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 algn="just"/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Vậy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=&gt;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Bầu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trời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mây</a:t>
                      </a:r>
                      <a:endParaRPr lang="en-US" sz="2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 indent="360045" algn="just"/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360045" algn="just"/>
                      <a:r>
                        <a:rPr lang="en-US" sz="26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Mệnh</a:t>
                      </a:r>
                      <a:r>
                        <a:rPr lang="en-US" sz="26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đề</a:t>
                      </a:r>
                      <a:r>
                        <a:rPr lang="en-US" sz="26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logic</a:t>
                      </a:r>
                      <a:endParaRPr lang="en-US" sz="2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342900" marR="0" lvl="0" indent="-342900" algn="just">
                        <a:buFont typeface="Wingdings" panose="05000000000000000000" pitchFamily="2" charset="2"/>
                        <a:buChar char=""/>
                        <a:tabLst>
                          <a:tab pos="457200" algn="l"/>
                        </a:tabLst>
                      </a:pP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P=“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Trời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mưa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”</a:t>
                      </a:r>
                    </a:p>
                    <a:p>
                      <a:pPr marL="342900" marR="0" lvl="0" indent="-342900" algn="just">
                        <a:buFont typeface="Wingdings" panose="05000000000000000000" pitchFamily="2" charset="2"/>
                        <a:buChar char=""/>
                        <a:tabLst>
                          <a:tab pos="457200" algn="l"/>
                        </a:tabLst>
                      </a:pP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Q= “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Bầu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trời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mây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”</a:t>
                      </a:r>
                    </a:p>
                    <a:p>
                      <a:pPr marL="171450" marR="0" algn="just"/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Ta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hai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biểu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sau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đúng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342900" marR="0" lvl="0" indent="-342900" algn="just">
                        <a:buFont typeface="Wingdings" panose="05000000000000000000" pitchFamily="2" charset="2"/>
                        <a:buChar char=""/>
                        <a:tabLst>
                          <a:tab pos="457200" algn="l"/>
                        </a:tabLst>
                      </a:pP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P     =&gt;   Q</a:t>
                      </a:r>
                    </a:p>
                    <a:p>
                      <a:pPr marL="342900" marR="0" lvl="0" indent="-342900" algn="just">
                        <a:buFont typeface="Wingdings" panose="05000000000000000000" pitchFamily="2" charset="2"/>
                        <a:buChar char=""/>
                        <a:tabLst>
                          <a:tab pos="457200" algn="l"/>
                        </a:tabLst>
                      </a:pP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</a:p>
                    <a:p>
                      <a:pPr marL="0" marR="0" algn="just"/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Vậy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theo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luật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suy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diễn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Q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là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đúng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algn="just"/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Nghĩa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là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: “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Bầu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trời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6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mây</a:t>
                      </a:r>
                      <a:r>
                        <a:rPr lang="en-US" sz="26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”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22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78055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503</TotalTime>
  <Words>5869</Words>
  <Application>Microsoft Office PowerPoint</Application>
  <PresentationFormat>Widescreen</PresentationFormat>
  <Paragraphs>263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Arial</vt:lpstr>
      <vt:lpstr>Cambria Math</vt:lpstr>
      <vt:lpstr>Courier New</vt:lpstr>
      <vt:lpstr>Gill Sans MT</vt:lpstr>
      <vt:lpstr>Sitka Small</vt:lpstr>
      <vt:lpstr>Symbol</vt:lpstr>
      <vt:lpstr>Times New Roman</vt:lpstr>
      <vt:lpstr>Wingdings</vt:lpstr>
      <vt:lpstr>Gallery</vt:lpstr>
      <vt:lpstr>TRÍ TUỆ NHÂN TẠO </vt:lpstr>
      <vt:lpstr>PowerPoint Presentation</vt:lpstr>
      <vt:lpstr>1.1. LỊCH SỬ HÌNH THÀNH VÀ PHÁT TRIỂN CỦA TRÍ TUỆ NHÂN TẠO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TRÍ TUỆ NHÂN TẠO</dc:title>
  <dc:creator>Hằng Đoàn Thị Thanh</dc:creator>
  <cp:lastModifiedBy>Dell</cp:lastModifiedBy>
  <cp:revision>28</cp:revision>
  <dcterms:created xsi:type="dcterms:W3CDTF">2024-09-07T00:03:46Z</dcterms:created>
  <dcterms:modified xsi:type="dcterms:W3CDTF">2024-11-22T09:56:27Z</dcterms:modified>
</cp:coreProperties>
</file>